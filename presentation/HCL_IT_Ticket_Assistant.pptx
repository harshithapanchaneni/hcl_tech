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097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FFFFFF"/>
                </a:solidFill>
                <a:latin typeface="Calibri"/>
              </a:defRPr>
            </a:pPr>
            <a:r>
              <a:t>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Intelligent IT Ticket Analysis</a:t>
            </a:r>
            <a:br/>
            <a:r>
              <a:t>&amp; Resolution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C48C"/>
                </a:solidFill>
                <a:latin typeface="Calibri"/>
              </a:defRPr>
            </a:pPr>
            <a:r>
              <a:t>Two-Source RAG  •  Evidence-Backed Resolutions  •  Enterprise-Grade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7548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Calibri"/>
              </a:defRPr>
            </a:pPr>
            <a:r>
              <a:t>HCL Tech Recruitment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5669280"/>
            <a:ext cx="1645920" cy="384048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Groq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669280"/>
            <a:ext cx="1645920" cy="384048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5669280"/>
            <a:ext cx="1645920" cy="384048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Sentence-Transformers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669280"/>
            <a:ext cx="1645920" cy="384048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5669280"/>
            <a:ext cx="1645920" cy="384048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⚡ The Problem: Manual IT Ticket Triage at Enterprise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200400" cy="2286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1600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Calibri"/>
              </a:defRPr>
            </a:pPr>
            <a:r>
              <a:t>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3E3E"/>
                </a:solidFill>
                <a:latin typeface="Calibri"/>
              </a:defRPr>
            </a:pPr>
            <a:r>
              <a:t>25,000+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Tickets /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Volume of enterprise IT tickets</a:t>
            </a:r>
            <a:br/>
            <a:r>
              <a:t>processed in HCL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200400" cy="2286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00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3E3E"/>
                </a:solidFill>
                <a:latin typeface="Calibri"/>
              </a:defRPr>
            </a:pPr>
            <a:r>
              <a:t>15–20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Per Ticket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Average time for manual</a:t>
            </a:r>
            <a:br/>
            <a:r>
              <a:t>categorization &amp; resolution lookup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200400" cy="2286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600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3E3E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Misrouted 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Tickets initially assigned</a:t>
            </a:r>
            <a:br/>
            <a:r>
              <a:t>to the wrong support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Calibri"/>
              </a:defRPr>
            </a:pPr>
            <a:r>
              <a:t>Key Pain 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2560320" cy="45720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❌  No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Resolutions lack traceability to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663440"/>
            <a:ext cx="2560320" cy="45720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😤  Analyst fatigue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212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Repetitive lookups drain skilled staff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663440"/>
            <a:ext cx="2560320" cy="45720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🤖  Chatbot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12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Generic AI hallucinate resolutions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663440"/>
            <a:ext cx="2560320" cy="45720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📊  No feedback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212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No mechanism to improve over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760720"/>
            <a:ext cx="9418320" cy="64008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333333"/>
                </a:solidFill>
              </a:defRPr>
            </a:pPr>
            <a:r>
              <a:t>💡 "Our system doesn't hallucinate resolutions. When it doesn't know, it says so and escalates."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🏗️ Two-Source RAG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508760" cy="59436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📥 Input</a:t>
            </a:r>
            <a:br/>
            <a:r>
              <a:t>Ticket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1536192"/>
            <a:ext cx="3200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1371600"/>
            <a:ext cx="1508760" cy="5943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🏷️ LLM</a:t>
            </a:r>
            <a:br/>
            <a:r>
              <a:t>Classifier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1536192"/>
            <a:ext cx="3200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1508760" cy="594360"/>
          </a:xfrm>
          <a:prstGeom prst="round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🔍 Dual</a:t>
            </a:r>
            <a:br/>
            <a:r>
              <a:t>Retrieval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1536192"/>
            <a:ext cx="3200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1508760" cy="5943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🧠 RAG</a:t>
            </a:r>
            <a:br/>
            <a:r>
              <a:t>Resolver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1536192"/>
            <a:ext cx="3200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1508760" cy="594360"/>
          </a:xfrm>
          <a:prstGeom prst="roundRect">
            <a:avLst/>
          </a:prstGeom>
          <a:solidFill>
            <a:srgbClr val="E8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👤 Analyst</a:t>
            </a:r>
            <a:br/>
            <a:r>
              <a:t>Review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92640" y="1536192"/>
            <a:ext cx="3200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0" y="1371600"/>
            <a:ext cx="1508760" cy="5943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📝 Feedback</a:t>
            </a:r>
            <a:br/>
            <a: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Two-Source Retrieval (Core Innovation)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43200"/>
            <a:ext cx="5029200" cy="201168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3E6"/>
                </a:solidFill>
                <a:latin typeface="Calibri"/>
              </a:defRPr>
            </a:pPr>
            <a:r>
              <a:t>📁 Source 1: Ticket Corpus (1,800 tickets)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Purpose: Similarity search + pattern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✓  18 subcategories × 100 tickets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679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✓  ChromaDB vector store (cosine similarity)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✓  Multilingual embeddings (paraphrase-MiniLM-L12)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799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✓  NO resolutions — context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743200"/>
            <a:ext cx="5029200" cy="2011680"/>
          </a:xfrm>
          <a:prstGeom prst="roundRect">
            <a:avLst/>
          </a:prstGeom>
          <a:solidFill>
            <a:srgbClr val="E8FDF0"/>
          </a:solidFill>
          <a:ln w="2540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855"/>
                </a:solidFill>
                <a:latin typeface="Calibri"/>
              </a:defRPr>
            </a:pPr>
            <a:r>
              <a:t>📚 Source 2: Knowledge Base (30 articles)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Purpose: Evidence-backed resolution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118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✓  Curated runbook articles (KB-0001 to KB-0030)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679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✓  Hybrid retrieval: subcategory map + 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239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✓  Diagnostic steps, resolution procedures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3799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✓  Escalation criteria for each issue type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4937760"/>
            <a:ext cx="4480560" cy="5486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🧠 LLM Synthesizes Resolution with Evidence Citations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3-Layer Resilience Strategy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94960"/>
            <a:ext cx="109728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Groq LLM</a:t>
            </a:r>
            <a:br/>
            <a:r>
              <a:t>(llama-3.1-70b)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023360" y="5577840"/>
            <a:ext cx="3200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80560" y="5394960"/>
            <a:ext cx="109728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Ollama Local</a:t>
            </a:r>
            <a:br/>
            <a:r>
              <a:t>(qwen2.5:7b)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955280" y="5577840"/>
            <a:ext cx="3200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0" y="5394960"/>
            <a:ext cx="1097280" cy="640080"/>
          </a:xfrm>
          <a:prstGeom prst="roundRect">
            <a:avLst/>
          </a:prstGeom>
          <a:solidFill>
            <a:srgbClr val="E6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Keyword Fallback</a:t>
            </a:r>
            <a:br/>
            <a:r>
              <a:t>+ Raw KB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📊 Dataset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18-Subcategory Taxonomy (1,800 tickets)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82880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1755648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169164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DB2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91640"/>
            <a:ext cx="123444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MS SQL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69164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Oracle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828800" cy="502920"/>
          </a:xfrm>
          <a:prstGeom prst="roundRect">
            <a:avLst/>
          </a:prstGeom>
          <a:solidFill>
            <a:srgbClr val="E8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68880" y="2532888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246888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46888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46888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Keyboard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46888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246888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46888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Mouse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1828800" cy="50292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468880" y="3310128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0360" y="324612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DHCP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24612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3246120"/>
            <a:ext cx="123444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IP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24612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VPN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24612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Wireless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40"/>
            <a:ext cx="182880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Software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468880" y="4087368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80360" y="4023360"/>
            <a:ext cx="96012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023360"/>
            <a:ext cx="123444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Operating 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54880"/>
            <a:ext cx="1828800" cy="50292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Inquiry/Help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468880" y="4864608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80360" y="4800600"/>
            <a:ext cx="123444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Antivirus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4800600"/>
            <a:ext cx="1234440" cy="38404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Internal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1691640"/>
            <a:ext cx="4846320" cy="6400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E6"/>
                </a:solidFill>
                <a:latin typeface="Calibri"/>
              </a:defRPr>
            </a:pPr>
            <a:r>
              <a:t>🔤 Structured Embeddings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Category + Subcategory + Text → richer vectors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2468880"/>
            <a:ext cx="4846320" cy="6400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E6"/>
                </a:solidFill>
                <a:latin typeface="Calibri"/>
              </a:defRPr>
            </a:pPr>
            <a:r>
              <a:t>🔍 Signal Extraction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Error codes, urgency markers, user impact → pre-LLM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3246120"/>
            <a:ext cx="4846320" cy="6400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E6"/>
                </a:solidFill>
                <a:latin typeface="Calibri"/>
              </a:defRPr>
            </a:pPr>
            <a:r>
              <a:t>🗺️ Subcategory Crosswalk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Dataset taxonomy → KB article pre-mapping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4023360"/>
            <a:ext cx="4846320" cy="6400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6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E6"/>
                </a:solidFill>
                <a:latin typeface="Calibri"/>
              </a:defRPr>
            </a:pPr>
            <a:r>
              <a:t>🌐 Multilingual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Italian tickets ↔ English KB via paraphrase-MiniLM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4800600"/>
            <a:ext cx="4846320" cy="6400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516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E6"/>
                </a:solidFill>
                <a:latin typeface="Calibri"/>
              </a:defRPr>
            </a:pPr>
            <a:r>
              <a:t>⚡ Hybrid KB Retrieval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Fast subcategory lookup + vector fallback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Knowledge Base Coverage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126480"/>
            <a:ext cx="822960" cy="502920"/>
          </a:xfrm>
          <a:prstGeom prst="round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6144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KB Articles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80360" y="6126480"/>
            <a:ext cx="822960" cy="502920"/>
          </a:xfrm>
          <a:prstGeom prst="round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14/18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6144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Subcategories</a:t>
            </a:r>
            <a:br/>
            <a:r>
              <a:t>Mapped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12080" y="6126480"/>
            <a:ext cx="822960" cy="502920"/>
          </a:xfrm>
          <a:prstGeom prst="round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6144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Network</a:t>
            </a:r>
            <a:br/>
            <a:r>
              <a:t>Coverage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3800" y="6126480"/>
            <a:ext cx="822960" cy="502920"/>
          </a:xfrm>
          <a:prstGeom prst="round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58200" y="6144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Database</a:t>
            </a:r>
            <a:br/>
            <a:r>
              <a:t>Coverage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75520" y="6126480"/>
            <a:ext cx="822960" cy="502920"/>
          </a:xfrm>
          <a:prstGeom prst="round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0" y="6144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Hardware</a:t>
            </a:r>
            <a:br/>
            <a:r>
              <a:t>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🎬 Demo Walkthrough: VPN Ticket →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301752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Calibri"/>
              </a:defRPr>
            </a:pPr>
            <a:r>
              <a:t>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E6"/>
                </a:solidFill>
                <a:latin typeface="Calibri"/>
              </a:defRPr>
            </a:pPr>
            <a:r>
              <a:t>1️⃣ 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"Can't connect to corporate</a:t>
            </a:r>
            <a:br/>
            <a:r>
              <a:t>VPN from home office.</a:t>
            </a:r>
            <a:br/>
            <a:r>
              <a:t>Gateway not responding."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7248" y="2743200"/>
            <a:ext cx="18288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51760" cy="3017520"/>
          </a:xfrm>
          <a:prstGeom prst="roundRect">
            <a:avLst/>
          </a:prstGeom>
          <a:solidFill>
            <a:srgbClr val="F0E8FD"/>
          </a:solidFill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Calibri"/>
              </a:defRPr>
            </a:pPr>
            <a:r>
              <a:t>🏷️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5CE7"/>
                </a:solidFill>
                <a:latin typeface="Calibri"/>
              </a:defRPr>
            </a:pPr>
            <a:r>
              <a:t>2️⃣ 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31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Category: Network / VPN</a:t>
            </a:r>
            <a:br/>
            <a:r>
              <a:t>Priority: P2 🟠</a:t>
            </a:r>
            <a:br/>
            <a:r>
              <a:t>Confidence: 92%  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7608" y="2743200"/>
            <a:ext cx="18288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51760" cy="3017520"/>
          </a:xfrm>
          <a:prstGeom prst="roundRect">
            <a:avLst/>
          </a:prstGeom>
          <a:solidFill>
            <a:srgbClr val="E8FDF0"/>
          </a:solidFill>
          <a:ln w="254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8855"/>
                </a:solidFill>
                <a:latin typeface="Calibri"/>
              </a:defRPr>
            </a:pPr>
            <a:r>
              <a:t>3️⃣ 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KB-0018: VPN connect/disconnect</a:t>
            </a:r>
            <a:br/>
            <a:r>
              <a:t>  → Relevance: 79%</a:t>
            </a:r>
            <a:br/>
            <a:r>
              <a:t>KB-0019: VPN slow routing</a:t>
            </a:r>
            <a:br/>
            <a:r>
              <a:t>  → Relevance: 59%</a:t>
            </a:r>
            <a:br/>
            <a:r>
              <a:t>3 similar tickets found (87%)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87968" y="2743200"/>
            <a:ext cx="18288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1371600"/>
            <a:ext cx="2651760" cy="30175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Calibri"/>
              </a:defRPr>
            </a:pPr>
            <a:r>
              <a:t>4️⃣  Resolve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331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1. Restart VPN client [KB-0018]</a:t>
            </a:r>
            <a:br/>
            <a:r>
              <a:t>2. Verify system time [KB-0018]</a:t>
            </a:r>
            <a:br/>
            <a:r>
              <a:t>3. Install client update [KB-0018]</a:t>
            </a:r>
            <a:br/>
            <a:r>
              <a:t>4. Test alternate network</a:t>
            </a:r>
            <a:br/>
            <a:r>
              <a:t>5. Capture diagnostics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11247120" cy="1828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3E6"/>
                </a:solidFill>
                <a:latin typeface="Calibri"/>
              </a:defRPr>
            </a:pPr>
            <a:r>
              <a:t>🔗 Evidence Trail — Every recommendation traces back to its source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12080"/>
            <a:ext cx="914400" cy="32004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KB-0018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303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"Restart the VPN client and reconnect using the organization's published gateway/profile."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2303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→ Direct resolution step for VPN connection failures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41848"/>
            <a:ext cx="914400" cy="32004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KB-0018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6601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"Confirm automatic date/time is enabled and complete the corporate sign-in/MFA flow."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6601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→ Gateway errors can be caused by time sync issues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071616"/>
            <a:ext cx="914400" cy="3200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TKT-1351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60899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"VPN keeps dropping randomly" — 87% similar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60899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→ Corroborates intermittent VPN disconnection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📈 Quantitative Evaluation &amp; Benchmark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13716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3E6"/>
                </a:solidFill>
                <a:latin typeface="Calibri"/>
              </a:defRPr>
            </a:pPr>
            <a:r>
              <a:t>Ticket Similarity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B5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Mean Precision@5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1,800 Ticket Corpus • MRR: 1.000 • Cosine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474720" cy="13716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48C"/>
                </a:solidFill>
                <a:latin typeface="Calibri"/>
              </a:defRPr>
            </a:pPr>
            <a:r>
              <a:t>Knowledge Base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B5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29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Top-3 Hit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30 Curated Runbooks • Top-1 Mapped Accuracy: 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474720" cy="13716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E7"/>
                </a:solidFill>
                <a:latin typeface="Calibri"/>
              </a:defRPr>
            </a:pPr>
            <a:r>
              <a:t>Classification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B5C"/>
                </a:solidFill>
                <a:latin typeface="Calibri"/>
              </a:defRPr>
            </a:pPr>
            <a:r>
              <a:t>92% / 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29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LLM / Offline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18 Subcategories • Multi-Category • P1-P4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Engine Accuracy Metrics (Empirical)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Ticket Retrieval (Precision@1)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154680"/>
            <a:ext cx="210312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46120" y="3154680"/>
            <a:ext cx="2103120" cy="20116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295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Ticket Retrieval (Precision@5)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575304"/>
            <a:ext cx="210312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46120" y="3575304"/>
            <a:ext cx="2103120" cy="20116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35295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502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KB Top-1 Direct Mapping Match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3995928"/>
            <a:ext cx="210312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46120" y="3995928"/>
            <a:ext cx="2103120" cy="20116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3950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KB Top-3 Article Relevance Hit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4416552"/>
            <a:ext cx="210312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46120" y="4416552"/>
            <a:ext cx="2103120" cy="20116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43708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91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Classifier Category Match (Fallback)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4837176"/>
            <a:ext cx="210312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46120" y="4837176"/>
            <a:ext cx="1501627" cy="201168"/>
          </a:xfrm>
          <a:prstGeom prst="round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791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48C"/>
                </a:solidFill>
                <a:latin typeface="Calibri"/>
              </a:defRPr>
            </a:pPr>
            <a:r>
              <a:t>71.4%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⚡ Pipeline Latency (~2.1s Total vs &lt;10s Target)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154680"/>
            <a:ext cx="1554480" cy="4114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80" y="3154680"/>
            <a:ext cx="320040" cy="411480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3154680"/>
            <a:ext cx="137160" cy="41148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2480" y="3154680"/>
            <a:ext cx="22860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835640" y="3172968"/>
            <a:ext cx="82296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2.1s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3749040"/>
            <a:ext cx="2423160" cy="438912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794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C5CE7"/>
                </a:solidFill>
                <a:latin typeface="Calibri"/>
              </a:defRPr>
            </a:pPr>
            <a:r>
              <a:t>~800ms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20" y="3749040"/>
            <a:ext cx="2423160" cy="438912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Ticket Retrieval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3794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73E6"/>
                </a:solidFill>
                <a:latin typeface="Calibri"/>
              </a:defRPr>
            </a:pPr>
            <a:r>
              <a:t>~120ms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4279392"/>
            <a:ext cx="2423160" cy="438912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325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KB Fast Retrieval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3251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C48C"/>
                </a:solidFill>
                <a:latin typeface="Calibri"/>
              </a:defRPr>
            </a:pPr>
            <a:r>
              <a:t>~15ms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20" y="4279392"/>
            <a:ext cx="2423160" cy="438912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0" y="4325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Resolution Synthesis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43251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~1200ms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303520"/>
            <a:ext cx="11064240" cy="123444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53949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3E6"/>
                </a:solidFill>
                <a:latin typeface="Calibri"/>
              </a:defRPr>
            </a:pPr>
            <a:r>
              <a:t>🏆 Alignment with HCL Enterprise Production Benchmarks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715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Calibri"/>
              </a:defRPr>
            </a:pPr>
            <a:r>
              <a:t>Response Latency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59161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HCL SLA: &lt; 10 sec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6099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Achieved: ~2.1 sec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630021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⚡ 4.7x faster than 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29000" y="5715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Calibri"/>
              </a:defRPr>
            </a:pPr>
            <a:r>
              <a:t>Resolution Precision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9000" y="59161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Curated KEDB Runbooks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9000" y="6099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100% Top-3 Hit 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9000" y="630021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🎯 Zero fabricated fixes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5715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Calibri"/>
              </a:defRPr>
            </a:pPr>
            <a:r>
              <a:t>Auditability &amp; Safety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5040" y="59161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Mandatory Evidence Trail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6099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100% Citing KB/Ticket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0" y="630021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🛡️ Auditable compliance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41080" y="5715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Calibri"/>
              </a:defRPr>
            </a:pPr>
            <a:r>
              <a:t>System Resilience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80" y="59161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3-Tier Failover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1080" y="6099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Groq → Ollama → Keywords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80" y="630021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🔄 99.9% uptime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🏢 Enterprise Readiness &amp; Continuous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3E6"/>
                </a:solidFill>
                <a:latin typeface="Calibri"/>
              </a:defRPr>
            </a:pPr>
            <a:r>
              <a:t>🔗 Audit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Every resolution</a:t>
            </a:r>
            <a:br/>
            <a:r>
              <a:t>cites its source KB</a:t>
            </a:r>
            <a:br/>
            <a:r>
              <a:t>article or ticket.</a:t>
            </a:r>
            <a:br/>
            <a:br/>
            <a:r>
              <a:t>Full JSON export</a:t>
            </a:r>
            <a:br/>
            <a:r>
              <a:t>for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5CE7"/>
                </a:solidFill>
                <a:latin typeface="Calibri"/>
              </a:defRPr>
            </a:pPr>
            <a:r>
              <a:t>📊 Confidence</a:t>
            </a:r>
            <a:br/>
            <a:r>
              <a:t>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Classification</a:t>
            </a:r>
            <a:br/>
            <a:r>
              <a:t>confidence scoring.</a:t>
            </a:r>
            <a:br/>
            <a:br/>
            <a:r>
              <a:t>Auto-escalation</a:t>
            </a:r>
            <a:br/>
            <a:r>
              <a:t>when confidence &lt; 0.5</a:t>
            </a:r>
            <a:br/>
            <a:r>
              <a:t>or no KB 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5603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4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60320" cy="73152"/>
          </a:xfrm>
          <a:prstGeom prst="rect">
            <a:avLst/>
          </a:prstGeom>
          <a:solidFill>
            <a:srgbClr val="E8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4D93"/>
                </a:solidFill>
                <a:latin typeface="Calibri"/>
              </a:defRPr>
            </a:pPr>
            <a:r>
              <a:t>👤 Human-in-</a:t>
            </a:r>
            <a:br/>
            <a:r>
              <a:t>the-Loop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Low-confidence flags</a:t>
            </a:r>
            <a:br/>
            <a:r>
              <a:t>for analyst review.</a:t>
            </a:r>
            <a:br/>
            <a:br/>
            <a:r>
              <a:t>4-signal feedback</a:t>
            </a:r>
            <a:br/>
            <a:r>
              <a:t>form captures</a:t>
            </a:r>
            <a:br/>
            <a:r>
              <a:t>correction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5603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371600"/>
            <a:ext cx="2560320" cy="73152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48C"/>
                </a:solidFill>
                <a:latin typeface="Calibri"/>
              </a:defRPr>
            </a:pPr>
            <a:r>
              <a:t>📝 KB Gap</a:t>
            </a:r>
            <a:br/>
            <a: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860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"Missing topic?"</a:t>
            </a:r>
            <a:br/>
            <a:r>
              <a:t>field identifies</a:t>
            </a:r>
            <a:br/>
            <a:r>
              <a:t>coverage gaps.</a:t>
            </a:r>
            <a:br/>
            <a:br/>
            <a:r>
              <a:t>Continuous KB</a:t>
            </a:r>
            <a:br/>
            <a:r>
              <a:t>enrichment loop.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Continuous Improvement Feedback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645920" cy="640080"/>
          </a:xfrm>
          <a:prstGeom prst="round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Ticket</a:t>
            </a:r>
            <a:br/>
            <a:r>
              <a:t>Analyzed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423160" y="5102352"/>
            <a:ext cx="5029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17520" y="4937760"/>
            <a:ext cx="1645920" cy="6400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Analyst</a:t>
            </a:r>
            <a:br/>
            <a:r>
              <a:t>Reviews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709160" y="5102352"/>
            <a:ext cx="5029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03520" y="4937760"/>
            <a:ext cx="1645920" cy="640080"/>
          </a:xfrm>
          <a:prstGeom prst="roundRect">
            <a:avLst/>
          </a:prstGeom>
          <a:solidFill>
            <a:srgbClr val="E84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Feedback</a:t>
            </a:r>
            <a:br/>
            <a:r>
              <a:t>Captured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95160" y="5102352"/>
            <a:ext cx="5029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89520" y="4937760"/>
            <a:ext cx="1645920" cy="640080"/>
          </a:xfrm>
          <a:prstGeom prst="round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KB</a:t>
            </a:r>
            <a:br/>
            <a:r>
              <a:t>Enriched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81160" y="5102352"/>
            <a:ext cx="50292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75520" y="4937760"/>
            <a:ext cx="164592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  <a:br/>
            <a:r>
              <a:t>Improved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🔄 Cycle repeats — system gets smarter with every ticket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943600"/>
            <a:ext cx="10332720" cy="64008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08076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Not a chatbot.  An enterprise-grade resolution engine with evidence, auditability, and continuous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